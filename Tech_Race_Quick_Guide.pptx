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le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447" y="777240"/>
            <a:ext cx="1894505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788920"/>
            <a:ext cx="10698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800" b="1" i="0">
                <a:solidFill>
                  <a:srgbClr val="1B2A5B"/>
                </a:solidFill>
                <a:latin typeface="Calibri"/>
              </a:rPr>
              <a:t>TECH 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4133087"/>
            <a:ext cx="2011680" cy="635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400"/>
              </a:spcAft>
            </a:pPr>
            <a:r>
              <a:rPr sz="3000" b="0" i="0">
                <a:solidFill>
                  <a:srgbClr val="101833"/>
                </a:solidFill>
                <a:latin typeface="Calibri"/>
              </a:rPr>
              <a:t>International Cooperation &amp; Competition</a:t>
            </a:r>
          </a:p>
          <a:p>
            <a:pPr algn="ctr">
              <a:spcAft>
                <a:spcPts val="1000"/>
              </a:spcAft>
            </a:pPr>
            <a:r>
              <a:rPr sz="2200" b="0" i="0">
                <a:solidFill>
                  <a:srgbClr val="535D7E"/>
                </a:solidFill>
                <a:latin typeface="Calibri"/>
              </a:rPr>
              <a:t>Selene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le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347472"/>
            <a:ext cx="682022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D99A1E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1B2A5B"/>
                </a:solidFill>
                <a:latin typeface="Calibri"/>
              </a:rPr>
              <a:t>Why We Play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64208"/>
            <a:ext cx="1371600" cy="635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104241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0"/>
              </a:spcAft>
            </a:pPr>
            <a:r>
              <a:rPr sz="3200" b="0" i="0">
                <a:solidFill>
                  <a:srgbClr val="101833"/>
                </a:solidFill>
                <a:latin typeface="Calibri"/>
              </a:rPr>
              <a:t>Technology is never only technical.</a:t>
            </a:r>
          </a:p>
          <a:p>
            <a:pPr algn="l">
              <a:spcAft>
                <a:spcPts val="3000"/>
              </a:spcAft>
            </a:pPr>
            <a:r>
              <a:rPr sz="3200" b="0" i="0">
                <a:solidFill>
                  <a:srgbClr val="101833"/>
                </a:solidFill>
                <a:latin typeface="Calibri"/>
              </a:rPr>
              <a:t>Every decision is political, economic and social.</a:t>
            </a:r>
          </a:p>
          <a:p>
            <a:pPr algn="l">
              <a:spcAft>
                <a:spcPts val="3000"/>
              </a:spcAft>
            </a:pPr>
            <a:r>
              <a:rPr sz="3200" b="0" i="0">
                <a:solidFill>
                  <a:srgbClr val="101833"/>
                </a:solidFill>
                <a:latin typeface="Calibri"/>
              </a:rPr>
              <a:t>Here, you defend your reasoning out loud.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le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347472"/>
            <a:ext cx="682022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D99A1E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1B2A5B"/>
                </a:solidFill>
                <a:latin typeface="Calibri"/>
              </a:rPr>
              <a:t>Your Role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64208"/>
            <a:ext cx="1371600" cy="635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104241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0"/>
              </a:spcAft>
            </a:pPr>
            <a:r>
              <a:rPr sz="3200" b="0" i="0">
                <a:solidFill>
                  <a:srgbClr val="101833"/>
                </a:solidFill>
                <a:latin typeface="Calibri"/>
              </a:rPr>
              <a:t>Your team leads a national innovation system.</a:t>
            </a:r>
          </a:p>
          <a:p>
            <a:pPr algn="l">
              <a:spcAft>
                <a:spcPts val="3000"/>
              </a:spcAft>
            </a:pPr>
            <a:r>
              <a:rPr sz="3200" b="0" i="0">
                <a:solidFill>
                  <a:srgbClr val="101833"/>
                </a:solidFill>
                <a:latin typeface="Calibri"/>
              </a:rPr>
              <a:t>Choose one technology goal.</a:t>
            </a:r>
          </a:p>
          <a:p>
            <a:pPr algn="l">
              <a:spcAft>
                <a:spcPts val="3000"/>
              </a:spcAft>
            </a:pPr>
            <a:r>
              <a:rPr sz="3200" b="0" i="0">
                <a:solidFill>
                  <a:srgbClr val="101833"/>
                </a:solidFill>
                <a:latin typeface="Calibri"/>
              </a:rPr>
              <a:t>Develop it faster — without breaking your country.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le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347472"/>
            <a:ext cx="682022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D99A1E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1B2A5B"/>
                </a:solidFill>
                <a:latin typeface="Calibri"/>
              </a:rPr>
              <a:t>The 8 Balances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64208"/>
            <a:ext cx="1371600" cy="635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057400"/>
            <a:ext cx="5212080" cy="868680"/>
          </a:xfrm>
          <a:prstGeom prst="roundRect">
            <a:avLst/>
          </a:prstGeom>
          <a:solidFill>
            <a:srgbClr val="EEF1FA"/>
          </a:solidFill>
          <a:ln w="12700">
            <a:solidFill>
              <a:srgbClr val="D3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600" b="1">
                <a:solidFill>
                  <a:srgbClr val="1B2A5B"/>
                </a:solidFill>
                <a:latin typeface="Calibri"/>
              </a:rPr>
              <a:t>Treasury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2057400"/>
            <a:ext cx="5212080" cy="868680"/>
          </a:xfrm>
          <a:prstGeom prst="roundRect">
            <a:avLst/>
          </a:prstGeom>
          <a:solidFill>
            <a:srgbClr val="EEF1FA"/>
          </a:solidFill>
          <a:ln w="12700">
            <a:solidFill>
              <a:srgbClr val="D3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600" b="1">
                <a:solidFill>
                  <a:srgbClr val="1B2A5B"/>
                </a:solidFill>
                <a:latin typeface="Calibri"/>
              </a:rPr>
              <a:t>Energy / Compute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3108960"/>
            <a:ext cx="5212080" cy="868680"/>
          </a:xfrm>
          <a:prstGeom prst="roundRect">
            <a:avLst/>
          </a:prstGeom>
          <a:solidFill>
            <a:srgbClr val="EEF1FA"/>
          </a:solidFill>
          <a:ln w="12700">
            <a:solidFill>
              <a:srgbClr val="D3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600" b="1">
                <a:solidFill>
                  <a:srgbClr val="1B2A5B"/>
                </a:solidFill>
                <a:latin typeface="Calibri"/>
              </a:rPr>
              <a:t>Political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3108960"/>
            <a:ext cx="5212080" cy="868680"/>
          </a:xfrm>
          <a:prstGeom prst="roundRect">
            <a:avLst/>
          </a:prstGeom>
          <a:solidFill>
            <a:srgbClr val="EEF1FA"/>
          </a:solidFill>
          <a:ln w="12700">
            <a:solidFill>
              <a:srgbClr val="D3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600" b="1">
                <a:solidFill>
                  <a:srgbClr val="1B2A5B"/>
                </a:solidFill>
                <a:latin typeface="Calibri"/>
              </a:rPr>
              <a:t>Public Welfare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" y="4160520"/>
            <a:ext cx="5212080" cy="868680"/>
          </a:xfrm>
          <a:prstGeom prst="roundRect">
            <a:avLst/>
          </a:prstGeom>
          <a:solidFill>
            <a:srgbClr val="EEF1FA"/>
          </a:solidFill>
          <a:ln w="12700">
            <a:solidFill>
              <a:srgbClr val="D3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600" b="1">
                <a:solidFill>
                  <a:srgbClr val="1B2A5B"/>
                </a:solidFill>
                <a:latin typeface="Calibri"/>
              </a:rPr>
              <a:t>R&amp;D Capacity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4160520"/>
            <a:ext cx="5212080" cy="868680"/>
          </a:xfrm>
          <a:prstGeom prst="roundRect">
            <a:avLst/>
          </a:prstGeom>
          <a:solidFill>
            <a:srgbClr val="EEF1FA"/>
          </a:solidFill>
          <a:ln w="12700">
            <a:solidFill>
              <a:srgbClr val="D3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600" b="1">
                <a:solidFill>
                  <a:srgbClr val="1B2A5B"/>
                </a:solidFill>
                <a:latin typeface="Calibri"/>
              </a:rPr>
              <a:t>International Reputation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" y="5212080"/>
            <a:ext cx="5212080" cy="868680"/>
          </a:xfrm>
          <a:prstGeom prst="roundRect">
            <a:avLst/>
          </a:prstGeom>
          <a:solidFill>
            <a:srgbClr val="EEF1FA"/>
          </a:solidFill>
          <a:ln w="12700">
            <a:solidFill>
              <a:srgbClr val="D3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600" b="1">
                <a:solidFill>
                  <a:srgbClr val="1B2A5B"/>
                </a:solidFill>
                <a:latin typeface="Calibri"/>
              </a:rPr>
              <a:t>Security / Sovereignty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5212080"/>
            <a:ext cx="5212080" cy="868680"/>
          </a:xfrm>
          <a:prstGeom prst="roundRect">
            <a:avLst/>
          </a:prstGeom>
          <a:solidFill>
            <a:srgbClr val="EEF1FA"/>
          </a:solidFill>
          <a:ln w="12700">
            <a:solidFill>
              <a:srgbClr val="D3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600" b="1">
                <a:solidFill>
                  <a:srgbClr val="1B2A5B"/>
                </a:solidFill>
                <a:latin typeface="Calibri"/>
              </a:rPr>
              <a:t>Environment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636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1" i="0">
                <a:solidFill>
                  <a:srgbClr val="D99A1E"/>
                </a:solidFill>
                <a:latin typeface="Calibri"/>
              </a:rPr>
              <a:t>Let any of these collapse and your technology stops advancing.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le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347472"/>
            <a:ext cx="682022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D99A1E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1B2A5B"/>
                </a:solidFill>
                <a:latin typeface="Calibri"/>
              </a:rPr>
              <a:t>How a Round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64208"/>
            <a:ext cx="1371600" cy="635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2514600"/>
            <a:ext cx="2048256" cy="2103120"/>
          </a:xfrm>
          <a:prstGeom prst="roundRect">
            <a:avLst/>
          </a:prstGeom>
          <a:solidFill>
            <a:srgbClr val="EEF1FA"/>
          </a:solidFill>
          <a:ln w="12700">
            <a:solidFill>
              <a:srgbClr val="D3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64592"/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D99A1E"/>
                </a:solidFill>
                <a:latin typeface="Calibri"/>
              </a:rPr>
              <a:t>1</a:t>
            </a:r>
          </a:p>
          <a:p>
            <a:pPr algn="ctr"/>
            <a:r>
              <a:rPr sz="1900">
                <a:solidFill>
                  <a:srgbClr val="101833"/>
                </a:solidFill>
                <a:latin typeface="Calibri"/>
              </a:rPr>
              <a:t>A global event appears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2928" y="2514600"/>
            <a:ext cx="2048256" cy="2103120"/>
          </a:xfrm>
          <a:prstGeom prst="roundRect">
            <a:avLst/>
          </a:prstGeom>
          <a:solidFill>
            <a:srgbClr val="EEF1FA"/>
          </a:solidFill>
          <a:ln w="12700">
            <a:solidFill>
              <a:srgbClr val="D3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64592"/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D99A1E"/>
                </a:solidFill>
                <a:latin typeface="Calibri"/>
              </a:rPr>
              <a:t>2</a:t>
            </a:r>
          </a:p>
          <a:p>
            <a:pPr algn="ctr"/>
            <a:r>
              <a:rPr sz="1900">
                <a:solidFill>
                  <a:srgbClr val="101833"/>
                </a:solidFill>
                <a:latin typeface="Calibri"/>
              </a:rPr>
              <a:t>Each team gets a policy card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7488" y="2514600"/>
            <a:ext cx="2048256" cy="2103120"/>
          </a:xfrm>
          <a:prstGeom prst="roundRect">
            <a:avLst/>
          </a:prstGeom>
          <a:solidFill>
            <a:srgbClr val="EEF1FA"/>
          </a:solidFill>
          <a:ln w="12700">
            <a:solidFill>
              <a:srgbClr val="D3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64592"/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D99A1E"/>
                </a:solidFill>
                <a:latin typeface="Calibri"/>
              </a:rPr>
              <a:t>3</a:t>
            </a:r>
          </a:p>
          <a:p>
            <a:pPr algn="ctr"/>
            <a:r>
              <a:rPr sz="1900">
                <a:solidFill>
                  <a:srgbClr val="101833"/>
                </a:solidFill>
                <a:latin typeface="Calibri"/>
              </a:rPr>
              <a:t>Your team explains its reasoning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2514600"/>
            <a:ext cx="2048256" cy="2103120"/>
          </a:xfrm>
          <a:prstGeom prst="roundRect">
            <a:avLst/>
          </a:prstGeom>
          <a:solidFill>
            <a:srgbClr val="EEF1FA"/>
          </a:solidFill>
          <a:ln w="12700">
            <a:solidFill>
              <a:srgbClr val="D3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64592"/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D99A1E"/>
                </a:solidFill>
                <a:latin typeface="Calibri"/>
              </a:rPr>
              <a:t>4</a:t>
            </a:r>
          </a:p>
          <a:p>
            <a:pPr algn="ctr"/>
            <a:r>
              <a:rPr sz="1900">
                <a:solidFill>
                  <a:srgbClr val="101833"/>
                </a:solidFill>
                <a:latin typeface="Calibri"/>
              </a:rPr>
              <a:t>Swipe left or right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36608" y="2514600"/>
            <a:ext cx="2048256" cy="2103120"/>
          </a:xfrm>
          <a:prstGeom prst="roundRect">
            <a:avLst/>
          </a:prstGeom>
          <a:solidFill>
            <a:srgbClr val="EEF1FA"/>
          </a:solidFill>
          <a:ln w="12700">
            <a:solidFill>
              <a:srgbClr val="D3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64592"/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D99A1E"/>
                </a:solidFill>
                <a:latin typeface="Calibri"/>
              </a:rPr>
              <a:t>5</a:t>
            </a:r>
          </a:p>
          <a:p>
            <a:pPr algn="ctr"/>
            <a:r>
              <a:rPr sz="1900">
                <a:solidFill>
                  <a:srgbClr val="101833"/>
                </a:solidFill>
                <a:latin typeface="Calibri"/>
              </a:rPr>
              <a:t>Stats and roadmap update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0292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600" b="1" i="0">
                <a:solidFill>
                  <a:srgbClr val="1B2A5B"/>
                </a:solidFill>
                <a:latin typeface="Calibri"/>
              </a:rPr>
              <a:t>8 rounds. About two hours.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le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347472"/>
            <a:ext cx="682022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D99A1E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1B2A5B"/>
                </a:solidFill>
                <a:latin typeface="Calibri"/>
              </a:rPr>
              <a:t>Global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64208"/>
            <a:ext cx="1371600" cy="635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104241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400"/>
              </a:spcAft>
            </a:pPr>
            <a:r>
              <a:rPr sz="3000" b="0" i="0">
                <a:solidFill>
                  <a:srgbClr val="101833"/>
                </a:solidFill>
                <a:latin typeface="Calibri"/>
              </a:rPr>
              <a:t>Every round has one random event.</a:t>
            </a:r>
          </a:p>
          <a:p>
            <a:pPr algn="l">
              <a:spcAft>
                <a:spcPts val="2400"/>
              </a:spcAft>
            </a:pPr>
            <a:r>
              <a:rPr sz="3000" b="0" i="0">
                <a:solidFill>
                  <a:srgbClr val="101833"/>
                </a:solidFill>
                <a:latin typeface="Calibri"/>
              </a:rPr>
              <a:t>Crisis, opportunity, resource conflict or pressure.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343400"/>
            <a:ext cx="10515600" cy="1554480"/>
          </a:xfrm>
          <a:prstGeom prst="roundRect">
            <a:avLst/>
          </a:prstGeom>
          <a:solidFill>
            <a:srgbClr val="EEF1FA"/>
          </a:solidFill>
          <a:ln w="31750">
            <a:solidFill>
              <a:srgbClr val="D99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/>
            <a:r>
              <a:rPr sz="2800" b="1">
                <a:solidFill>
                  <a:srgbClr val="1B2A5B"/>
                </a:solidFill>
                <a:latin typeface="Calibri"/>
              </a:rPr>
              <a:t>Read the event guide before deciding.</a:t>
            </a:r>
          </a:p>
          <a:p>
            <a:r>
              <a:rPr sz="2100" i="1">
                <a:solidFill>
                  <a:srgbClr val="535D7E"/>
                </a:solidFill>
                <a:latin typeface="Calibri"/>
              </a:rPr>
              <a:t>"Energy Shock — energy-heavy strategies become riskier this round."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le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347472"/>
            <a:ext cx="682022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D99A1E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1B2A5B"/>
                </a:solidFill>
                <a:latin typeface="Calibri"/>
              </a:rPr>
              <a:t>Development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64208"/>
            <a:ext cx="1371600" cy="635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104241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200"/>
              </a:spcAft>
            </a:pPr>
            <a:r>
              <a:rPr sz="3200" b="0" i="0">
                <a:solidFill>
                  <a:srgbClr val="101833"/>
                </a:solidFill>
                <a:latin typeface="Calibri"/>
              </a:rPr>
              <a:t>Your technology starts at 0%.</a:t>
            </a:r>
          </a:p>
          <a:p>
            <a:pPr algn="l">
              <a:spcAft>
                <a:spcPts val="2200"/>
              </a:spcAft>
            </a:pPr>
            <a:r>
              <a:rPr sz="3200" b="0" i="0">
                <a:solidFill>
                  <a:srgbClr val="101833"/>
                </a:solidFill>
                <a:latin typeface="Calibri"/>
              </a:rPr>
              <a:t>Progress comes step by step, round by round.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977639"/>
            <a:ext cx="1874519" cy="658368"/>
          </a:xfrm>
          <a:prstGeom prst="roundRect">
            <a:avLst/>
          </a:prstGeom>
          <a:solidFill>
            <a:srgbClr val="D99A1E"/>
          </a:solidFill>
          <a:ln w="19050">
            <a:solidFill>
              <a:srgbClr val="D99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A1D00"/>
                </a:solidFill>
                <a:latin typeface="Calibri"/>
              </a:rPr>
              <a:t>Stage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44367" y="3977639"/>
            <a:ext cx="1874519" cy="658368"/>
          </a:xfrm>
          <a:prstGeom prst="roundRect">
            <a:avLst/>
          </a:prstGeom>
          <a:solidFill>
            <a:srgbClr val="D99A1E"/>
          </a:solidFill>
          <a:ln w="19050">
            <a:solidFill>
              <a:srgbClr val="D99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A1D00"/>
                </a:solidFill>
                <a:latin typeface="Calibri"/>
              </a:rPr>
              <a:t>Stage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0054" y="3977639"/>
            <a:ext cx="1874519" cy="658368"/>
          </a:xfrm>
          <a:prstGeom prst="roundRect">
            <a:avLst/>
          </a:prstGeom>
          <a:solidFill>
            <a:srgbClr val="EEF1FA"/>
          </a:solidFill>
          <a:ln w="19050">
            <a:solidFill>
              <a:srgbClr val="D3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35D7E"/>
                </a:solidFill>
                <a:latin typeface="Calibri"/>
              </a:rPr>
              <a:t>Stage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95741" y="3977639"/>
            <a:ext cx="1874519" cy="658368"/>
          </a:xfrm>
          <a:prstGeom prst="roundRect">
            <a:avLst/>
          </a:prstGeom>
          <a:solidFill>
            <a:srgbClr val="EEF1FA"/>
          </a:solidFill>
          <a:ln w="19050">
            <a:solidFill>
              <a:srgbClr val="D3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35D7E"/>
                </a:solidFill>
                <a:latin typeface="Calibri"/>
              </a:rPr>
              <a:t>Stage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71428" y="3977639"/>
            <a:ext cx="1874519" cy="658368"/>
          </a:xfrm>
          <a:prstGeom prst="roundRect">
            <a:avLst/>
          </a:prstGeom>
          <a:solidFill>
            <a:srgbClr val="EEF1FA"/>
          </a:solidFill>
          <a:ln w="19050">
            <a:solidFill>
              <a:srgbClr val="D3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35D7E"/>
                </a:solidFill>
                <a:latin typeface="Calibri"/>
              </a:rPr>
              <a:t>Stage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02920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800" b="0" i="0">
                <a:solidFill>
                  <a:srgbClr val="101833"/>
                </a:solidFill>
                <a:latin typeface="Calibri"/>
              </a:rPr>
              <a:t>If your national balance collapses,</a:t>
            </a:r>
          </a:p>
          <a:p>
            <a:pPr algn="ctr">
              <a:spcAft>
                <a:spcPts val="1000"/>
              </a:spcAft>
            </a:pPr>
            <a:r>
              <a:rPr sz="3000" b="1" i="0">
                <a:solidFill>
                  <a:srgbClr val="B43A2A"/>
                </a:solidFill>
                <a:latin typeface="Calibri"/>
              </a:rPr>
              <a:t>progress stops — or goes backwards.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le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347472"/>
            <a:ext cx="682022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D99A1E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1B2A5B"/>
                </a:solidFill>
                <a:latin typeface="Calibri"/>
              </a:rPr>
              <a:t>Winning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64208"/>
            <a:ext cx="1371600" cy="635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104241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0"/>
              </a:spcAft>
            </a:pPr>
            <a:r>
              <a:rPr sz="3000" b="0" i="0">
                <a:solidFill>
                  <a:srgbClr val="101833"/>
                </a:solidFill>
                <a:latin typeface="Calibri"/>
              </a:rPr>
              <a:t>Fast technology growth matters.</a:t>
            </a:r>
          </a:p>
          <a:p>
            <a:pPr algn="l">
              <a:spcAft>
                <a:spcPts val="2000"/>
              </a:spcAft>
            </a:pPr>
            <a:r>
              <a:rPr sz="3000" b="0" i="0">
                <a:solidFill>
                  <a:srgbClr val="101833"/>
                </a:solidFill>
                <a:latin typeface="Calibri"/>
              </a:rPr>
              <a:t>But an unstable country cannot sustain innovation.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343400"/>
            <a:ext cx="10515600" cy="1371600"/>
          </a:xfrm>
          <a:prstGeom prst="roundRect">
            <a:avLst/>
          </a:prstGeom>
          <a:solidFill>
            <a:srgbClr val="1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Best team  =  strong technology  +  balanced society  +  strategic judgement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le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347472"/>
            <a:ext cx="682022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371600"/>
            <a:ext cx="105156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800"/>
              </a:spcAft>
            </a:pPr>
            <a:r>
              <a:rPr sz="4600" b="1" i="0">
                <a:solidFill>
                  <a:srgbClr val="1B2A5B"/>
                </a:solidFill>
                <a:latin typeface="Calibri"/>
              </a:rPr>
              <a:t>Think like engineers.</a:t>
            </a:r>
          </a:p>
          <a:p>
            <a:pPr algn="ctr">
              <a:spcAft>
                <a:spcPts val="1800"/>
              </a:spcAft>
            </a:pPr>
            <a:r>
              <a:rPr sz="4600" b="1" i="0">
                <a:solidFill>
                  <a:srgbClr val="1B2A5B"/>
                </a:solidFill>
                <a:latin typeface="Calibri"/>
              </a:rPr>
              <a:t>Decide like policymakers.</a:t>
            </a:r>
          </a:p>
          <a:p>
            <a:pPr algn="ctr">
              <a:spcAft>
                <a:spcPts val="3000"/>
              </a:spcAft>
            </a:pPr>
            <a:r>
              <a:rPr sz="4600" b="1" i="0">
                <a:solidFill>
                  <a:srgbClr val="1B2A5B"/>
                </a:solidFill>
                <a:latin typeface="Calibri"/>
              </a:rPr>
              <a:t>Negotiate like diplomats.</a:t>
            </a:r>
          </a:p>
          <a:p>
            <a:pPr algn="ctr">
              <a:spcAft>
                <a:spcPts val="1000"/>
              </a:spcAft>
            </a:pPr>
            <a:r>
              <a:rPr sz="4000" b="1" i="0">
                <a:solidFill>
                  <a:srgbClr val="D99A1E"/>
                </a:solidFill>
                <a:latin typeface="Calibri"/>
              </a:rPr>
              <a:t>Explain your choices.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907127" y="5321808"/>
            <a:ext cx="2377440" cy="635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0" i="0">
                <a:solidFill>
                  <a:srgbClr val="535D7E"/>
                </a:solidFill>
                <a:latin typeface="Calibri"/>
              </a:rPr>
              <a:t>Tech Race  ·  Selene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